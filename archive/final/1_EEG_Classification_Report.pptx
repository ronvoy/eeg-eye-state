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30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301" r:id="rId25"/>
    <p:sldId id="303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305" r:id="rId45"/>
    <p:sldId id="296" r:id="rId46"/>
    <p:sldId id="297" r:id="rId47"/>
    <p:sldId id="298" r:id="rId48"/>
    <p:sldId id="300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449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DDF8E-AA5D-8EC5-1B66-85343A52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39205-ABF2-0E1D-6B95-86409E3E2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435209-7A5B-BE73-5832-808BE60CA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A0C75-4C5F-01E2-AD26-521F7BD7F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2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3957-183C-E564-329E-281DCA76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26E6C1-A827-C90B-8AE0-4EB10981A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E74AD-B1F9-7741-7935-E7751741F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B1631-F8F6-46F8-AF41-2158EC727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046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4846-4FAD-B636-85D0-0DB02945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64F15-9EB7-ADAF-B162-5A0F6B15B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79B3A-1ECB-4DF3-C234-82BC73B28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054CB-F4DD-4B35-7177-326C15C54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6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F5AAE-89DE-7A27-4836-2B33F3B3D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F956C-FA11-3D77-3DFF-8B714274B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40DEE-12EF-2259-FF3A-50E24AF1C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44B82-4D19-3071-FA39-257E3DDF4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972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ANALYSIS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14400" y="338328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E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Study of Machine Learning &amp; Deep Learning Methods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Naples Federico II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 — 2025/26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80718" y="4690965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80718" y="49732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Giuseppe Longo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Prof.ssa Roberta Siciliano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80718" y="5664615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80718" y="5989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Manzo  ·  Francesco Ventimiglia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Danilo Rodriguez  ·  Rohan Baidya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9BB0416-CABF-9635-46BF-33732DFF379F}"/>
              </a:ext>
            </a:extLst>
          </p:cNvPr>
          <p:cNvSpPr/>
          <p:nvPr/>
        </p:nvSpPr>
        <p:spPr>
          <a:xfrm>
            <a:off x="914400" y="5989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report view at </a:t>
            </a: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www.unina.cc/dmml</a:t>
            </a:r>
            <a:endParaRPr lang="en-US" sz="1600" u="sng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journey from raw EEG signals to production-ready classification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0" cy="12344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73152" cy="1234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45920" y="1389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Electrode Positioning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75564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EEG Eye State dataset, Emotiv EPOC headset, 14-electrode 10-20 layout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486400" cy="12344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73152" cy="1234440"/>
          </a:xfrm>
          <a:prstGeom prst="rect">
            <a:avLst/>
          </a:prstGeom>
          <a:solidFill>
            <a:srgbClr val="5B8F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3716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406640" y="1389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06640" y="175564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spike removal, Butterworth bandpass filtering, log-normalization rejection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5486400" cy="12344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73152" cy="1234440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7432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645920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312724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Hemispheric asymmetry pairs and five EEG band power features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651760"/>
            <a:ext cx="5486400" cy="12344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2651760"/>
            <a:ext cx="73152" cy="12344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27432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406640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06640" y="312724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balance, distributions, correlations, collinearity, FFT, PSD spectral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5486400" cy="12344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73152" cy="1234440"/>
          </a:xfrm>
          <a:prstGeom prst="rect">
            <a:avLst/>
          </a:prstGeom>
          <a:solidFill>
            <a:srgbClr val="7B2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41148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164592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645920" y="449884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(supervised), t-SNE (local non-linear), UMAP (local + global)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4023360"/>
            <a:ext cx="5486400" cy="12344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17920" y="4023360"/>
            <a:ext cx="73152" cy="12344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0" y="41148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740664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06640" y="449884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LogReg, SVM-RBF, RandomForest, GradientBoosting, XGBoost — one slide each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394960"/>
            <a:ext cx="5486400" cy="12344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5394960"/>
            <a:ext cx="73152" cy="12344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" y="54864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1645920" y="5504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645920" y="587044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interpretation, LSTM, CNN-LSTM, EEG Transformer, EEGNet, PatchTST Lite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5394960"/>
            <a:ext cx="5486400" cy="12344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17920" y="5394960"/>
            <a:ext cx="73152" cy="123444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00800" y="54864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7406640" y="5504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and Conclusion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406640" y="587044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ranking, use-case decision matrix, problems, conclusions, verification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5AAFD-3317-1A5E-5875-4D635B46D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600A9D12-D888-D260-5731-794F5CF824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6823" y="186613"/>
            <a:ext cx="9650033" cy="6296646"/>
          </a:xfrm>
          <a:prstGeom prst="rect">
            <a:avLst/>
          </a:prstGeom>
          <a:ln>
            <a:noFill/>
          </a:ln>
        </p:spPr>
      </p:pic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15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UCI EEG Eye State (Rösler 2013)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Single-subject continuous recording with Emotiv EPOC consumer-grade BCI headset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743200" cy="8229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73152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16152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14,980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1636776"/>
            <a:ext cx="256032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743200" cy="8229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143000"/>
            <a:ext cx="73152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216152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seconds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1636776"/>
            <a:ext cx="256032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8229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73152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216152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Hz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1636776"/>
            <a:ext cx="256032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1143000"/>
            <a:ext cx="2743200" cy="8229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61120" y="1143000"/>
            <a:ext cx="73152" cy="8229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0" y="1216152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EEG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0" y="1636776"/>
            <a:ext cx="256032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(RAW)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103120"/>
            <a:ext cx="5577840" cy="429768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103120"/>
            <a:ext cx="5577840" cy="4572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2103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PROVENANCE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265176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b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 (dataset ID 264)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b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b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Rösler, Baden-Württemberg Cooperative State University (2013)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b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</a:t>
            </a:r>
            <a:b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Emotiv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EPOC neuroheadset — consumer-grade 14-channel wireless BCI with saline felt electrodes</a:t>
            </a:r>
            <a:b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b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healthy adult, continuous recording, instructed to freely open/close eyes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paradigm: </a:t>
            </a:r>
            <a:b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state manually labelled from synchronised video → binary target eyeDetection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b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canonical benchmark for drowsiness detection, passive BCI, and fatigue monitoring research — used in 200+ peer-reviewed papers.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103120"/>
            <a:ext cx="5486400" cy="429768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2103120"/>
            <a:ext cx="5486400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55080" y="2103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 EEG CHANNELS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265176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order (14): 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AF3, F7, F3, FC5, T7, P7, O1, O2, P8, T8, FC6, F4, F8, AF4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units: 	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Microvolts (µV)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	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Mode Sense (CMS) — P3 location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ground: 	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Right Leg (DRL) — P4 location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range (raw): </a:t>
            </a:r>
            <a:b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– 5,000 µV typical; spikes up to 715,897 µV from electrode pops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b="1" dirty="0">
              <a:solidFill>
                <a:srgbClr val="E639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</a:t>
            </a:r>
            <a:b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eyeDetection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{0, 1}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Eye Open   ·   1 = Eye Closed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 Positioning — International 10-20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Emotiv EPOC uses a 14-electrode subset of the standard 10-20 montage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577840" cy="525780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57784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 SYSTEM EXPLAINED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53035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</a:t>
            </a:r>
            <a:b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Electrodes are placed at 10% or 20% of the distance between anatomical landmarks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letter = </a:t>
            </a: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(F=frontal, C=central, T=temporal, P=parietal, O=occipital)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Number = </a:t>
            </a: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hemisphere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odd = left, even = right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10-20? </a:t>
            </a:r>
            <a:b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by the International Federation in 1958 as the universal standard. Any published EEG electrode name refers to a precise anatomical location independent of head size.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Emotiv EPOC coverage: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 selected positions cover 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main lobes bilaterally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giving balanced spatial sensitivity for frontal attention, temporal face processing, parietal spatial attention, and occipital visual cortex.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1645920"/>
            <a:ext cx="4023360" cy="4023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979408" y="1325880"/>
            <a:ext cx="329184" cy="32004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03720" y="3383280"/>
            <a:ext cx="27432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09960" y="3383280"/>
            <a:ext cx="27432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45094" y="2056949"/>
            <a:ext cx="365760" cy="3657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45094" y="20569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AF3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477146" y="2056949"/>
            <a:ext cx="365760" cy="3657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77146" y="20569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605008" y="2336807"/>
            <a:ext cx="365760" cy="3657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05008" y="233680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578542" y="2654279"/>
            <a:ext cx="365760" cy="3657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78542" y="26542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9343698" y="2654279"/>
            <a:ext cx="365760" cy="3657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43698" y="26542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0317232" y="2336807"/>
            <a:ext cx="365760" cy="3657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317232" y="233680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958359" y="3007125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58359" y="300712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FC5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9963881" y="3007125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963881" y="300712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FC6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150608" y="3474720"/>
            <a:ext cx="365760" cy="36576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50608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0771632" y="3474720"/>
            <a:ext cx="365760" cy="36576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771632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510993" y="4490110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10993" y="44901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0411247" y="4490110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411247" y="44901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410692" y="4987009"/>
            <a:ext cx="365760" cy="365760"/>
          </a:xfrm>
          <a:prstGeom prst="ellipse">
            <a:avLst/>
          </a:prstGeom>
          <a:solidFill>
            <a:srgbClr val="7B2CBF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10692" y="498700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511548" y="4987009"/>
            <a:ext cx="365760" cy="365760"/>
          </a:xfrm>
          <a:prstGeom prst="ellipse">
            <a:avLst/>
          </a:prstGeom>
          <a:solidFill>
            <a:srgbClr val="7B2CBF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511548" y="498700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595360" y="1005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95360" y="5760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38428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75120" y="6172200"/>
            <a:ext cx="182880" cy="1828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76288" y="61539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680960" y="6172200"/>
            <a:ext cx="182880" cy="18288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882128" y="61539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686800" y="6172200"/>
            <a:ext cx="182880" cy="182880"/>
          </a:xfrm>
          <a:prstGeom prst="ellipse">
            <a:avLst/>
          </a:prstGeom>
          <a:solidFill>
            <a:srgbClr val="5B8F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887968" y="61539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692640" y="6172200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893808" y="61539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Parietal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698480" y="6172200"/>
            <a:ext cx="182880" cy="182880"/>
          </a:xfrm>
          <a:prstGeom prst="ellipse">
            <a:avLst/>
          </a:prstGeom>
          <a:solidFill>
            <a:srgbClr val="7B2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899648" y="61539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Occipital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 Functional Regions — What Each Area Records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lobe captures a different neural function, informing which channels matter for eye-state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645920" cy="9601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channels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AF3, AF4, F3, F4, F7, F8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143000"/>
            <a:ext cx="9601200" cy="96012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40280" y="1216152"/>
            <a:ext cx="9418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control, attention, working memory, voluntary motor planning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eye-state: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 drowsiness — frontal theta power (4–8 Hz) rises with fatigue; pre-motor activity precedes voluntary eye closure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RandomForest importance: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importance (F7, F8, AF3 rank 1, 2, 4 in RandomForest)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1645920" cy="9601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2677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862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FC5, FC6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2176272"/>
            <a:ext cx="9601200" cy="96012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40280" y="2249424"/>
            <a:ext cx="9418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Sensorimotor integration, motor preparation (mu rhythm 8–13 Hz over sensorimotor cortex)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eye-state: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muscular activation during eye-lid closure; mu desynchronises with movement intent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RandomForest importance: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importance (FC5 rank 3, FC6 rank 7)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9544"/>
            <a:ext cx="1645920" cy="960120"/>
          </a:xfrm>
          <a:prstGeom prst="rect">
            <a:avLst/>
          </a:prstGeom>
          <a:solidFill>
            <a:srgbClr val="5B8F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3009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6667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895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T7, T8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3209544"/>
            <a:ext cx="9601200" cy="96012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40280" y="3282696"/>
            <a:ext cx="9418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Auditory processing, language (left T7), face/voice recognition (right T8)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eye-state: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direct relevance for eye-state but captures alertness-related arousal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RandomForest importance: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importance (T7 rank 10, T8 rank 11)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42816"/>
            <a:ext cx="1645920" cy="9601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3342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PARIETAL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470001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928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P7, P8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4242816"/>
            <a:ext cx="9601200" cy="96012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40280" y="4315968"/>
            <a:ext cx="9418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attention, sensory integration, top-down visual attention modulation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eye-state: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power here increases when eyes close — strong Berger contribution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RandomForest importance: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Low–mid importance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276088"/>
            <a:ext cx="1645920" cy="960120"/>
          </a:xfrm>
          <a:prstGeom prst="rect">
            <a:avLst/>
          </a:prstGeom>
          <a:solidFill>
            <a:srgbClr val="7B2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5367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OCCIPITAL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5733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5961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O1, O2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03120" y="5276088"/>
            <a:ext cx="9601200" cy="96012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240280" y="5349240"/>
            <a:ext cx="9418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visual cortex (V1) — retinal input processing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eye-state: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Berger effect site — alpha (8–12 Hz) surges when visual input ceases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RandomForest importance: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importance (O1 rank 9, O2 rank 13) — weaker than expected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— eyeDetection &amp; Class Distribution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with mild imbalance; temporal structure matters more than ratio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(Full Dataset)</a:t>
            </a:r>
            <a:endParaRPr lang="en-US" sz="1300" dirty="0"/>
          </a:p>
        </p:txBody>
      </p:sp>
      <p:pic>
        <p:nvPicPr>
          <p:cNvPr id="7" name="Image 0" descr="/home/claude/crops/class_balanc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08760"/>
            <a:ext cx="548640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074920"/>
            <a:ext cx="2651760" cy="10058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5074920"/>
            <a:ext cx="73152" cy="1005840"/>
          </a:xfrm>
          <a:prstGeom prst="rect">
            <a:avLst/>
          </a:prstGeom>
          <a:solidFill>
            <a:srgbClr val="5B8F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5148072"/>
            <a:ext cx="24688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8,257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0080" y="5678424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— OPEN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5074920"/>
            <a:ext cx="2651760" cy="10058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46120" y="5074920"/>
            <a:ext cx="73152" cy="10058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29000" y="5148072"/>
            <a:ext cx="24688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6,723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29000" y="5678424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— CLOSED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188720"/>
            <a:ext cx="5486400" cy="498348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17920" y="1188720"/>
            <a:ext cx="5486400" cy="4114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55080" y="1188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ANALYSIS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55080" y="1691640"/>
            <a:ext cx="5257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ratio: </a:t>
            </a:r>
            <a:b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55.1% Open / 44.9% Closed </a:t>
            </a:r>
            <a:b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classified as MILD imbalance (SMOTE not required; class weighting suffices)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distribution (critical):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Quartile 1 (0–25% of recording):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49.8% closed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Quartile 2 (25–50%):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62.3% closed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Quartile 3 (50–75%):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 closed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Quartile 4 (75–100%):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24.2% closed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 15% of recording: </a:t>
            </a: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8.1% closed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b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train/test splits expose the model to radically different class priors at evaluation — the core reason accuracy and AUC diverge sharply on the held-out partition.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b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as primary metric + class-balanced loss weights + CV-optimised decision thresholds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 1 — IQR Spike Removal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Emotiv signals contain hardware artifacts up to 715,897 µV — four orders of magnitude above physiology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5778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57784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HARDWARE SPIKES APPEAR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Emotiv EPOC uses saline-soaked felt pads, not gel-based research electrodes.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artifact sources: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Electrode-skin contact loss (dry pad) →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drift spike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Cable movement →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triboelectric discharge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Muscle artifact (EMG) →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burst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Eye blinks (EOG) →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frontal deflections (~200 µV)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physiological range: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±50 µV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5778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57784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— MATHEMATICS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29768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= 25th percentile, Q3 = 75th percentile, IQR = Q3 − Q1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rule (per channel):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sample rejected if  |x − median| &gt; 3.0 × IQR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Row-wise policy: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channel flags the row, drop the entire sample (preserves alignment across all 14 channels)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3.0× (not 1.5×)?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 would remove legitimate high-amplitude events (alpha bursts, K-complexes). 3.0× is conservative — targets clear hardware failures.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548640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143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1737360"/>
            <a:ext cx="521208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IQR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21031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voltage: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715,897 µV (F7)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voltage: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−16,384 µV (FC6)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78.3 (AF3)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6,178 (AF3)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/ mean ratio: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1,250×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3794760"/>
            <a:ext cx="521208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IQR (PRE-BANDPASS)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41605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±200 µV (physiological)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|γ1| &lt; 2 on all 14 channels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 on all 14 channels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1,374 / 14,980 = 9.2%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13,606 samples (90.8%)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5897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Bandpass filter next — continues with clean 13,606-sample signal 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 2 — Butterworth Bandpass Filter (Theory)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DC drift below 0.5 Hz and power-line noise above 45 Hz while preserving all EEG bands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5778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57784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DESIGN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530352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Butterworth (maximally flat passband)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(balances roll-off sharpness vs. ringing)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Passband: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Hz – 45 Hz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Stopband edges: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~0.25 Hz (low) and ~55 Hz (high)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scipy.signal.filtfilt — forward + backward pass → zero phase distortion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function: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|H(jω)|² = 1 / (1 + (ω/ωc)^(2n))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n=4 (order) and ωc is the cutoff frequency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Butterworth (not Chebyshev or Elliptic)? </a:t>
            </a:r>
            <a:b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Butterworth has no ripple in the passband </a:t>
            </a:r>
            <a:b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critical for EEG since amplitude distortions and would contaminate band-power features. </a:t>
            </a:r>
            <a:b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5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Chebyshev is sharper but ripples;</a:t>
            </a:r>
            <a:b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Elliptic is sharpest but ripples in both bands.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48640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5080" y="1143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REMOVED AND WHY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600200"/>
            <a:ext cx="521208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0.5 Hz — DC drift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baseline wander from electrode–skin impedance changes (sweat, position drift). Not neural in origin; dominates variance if left in.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45 Hz — noise band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Hz European power-line interference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EMG muscle contamination (high-frequency broadband)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sampling aliasing near Nyquist (64 Hz)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preserved: all 5 EEG bands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(0.5–4 Hz) — sleep, very low attention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(4–8 Hz) — drowsiness, memory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(8–12 Hz) — relaxed wakefulness, eyes closed </a:t>
            </a:r>
            <a:endParaRPr lang="en-US" sz="1050" b="1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(12–30 Hz) — active thinking, focus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(30–45 Hz, capped at 45) — higher cognition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b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gamma can reach 100 Hz, but Nyquist at 64 Hz (128/2) and line-noise at 50 Hz constrain us to 30–45 Hz of 'low gamma'.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Butterworth Bandpass — Effect on the Signal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O1 before vs after bandpass: DC offset removed, signal now centred around 0 µV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bandpass_filter.jpg"/>
          <p:cNvPicPr>
            <a:picLocks noChangeAspect="1"/>
          </p:cNvPicPr>
          <p:nvPr/>
        </p:nvPicPr>
        <p:blipFill>
          <a:blip r:embed="rId3"/>
          <a:srcRect t="8180" b="586"/>
          <a:stretch>
            <a:fillRect/>
          </a:stretch>
        </p:blipFill>
        <p:spPr>
          <a:xfrm>
            <a:off x="457200" y="978408"/>
            <a:ext cx="11247120" cy="3227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389120"/>
            <a:ext cx="37490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4389120"/>
            <a:ext cx="374904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4389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PANEL — AFTER IQR ONLY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484632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~1060 to 1135 µV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~1098 µV (DC offset)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spike-free but dominated by slow drift; true neural oscillation masked by baseline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4389120"/>
            <a:ext cx="37490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97680" y="4389120"/>
            <a:ext cx="3749040" cy="411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434840" y="4389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PANEL — AFTER BANDPASS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34840" y="484632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±25 µV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µV (DC removed)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oscillatory structure revealed — this is what the classifiers actually learn from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38160" y="4389120"/>
            <a:ext cx="37490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38160" y="4389120"/>
            <a:ext cx="374904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4389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PROPERTIES VERIFIED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75320" y="484632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distortion: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(filtfilt)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attenuation at 0.25 Hz: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 dB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attenuation at 55 Hz: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dB — passband is clean for all physiological bands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Log-Normalization Was Rejected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as a third preprocessing stage; measured to make every channel worse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5778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57784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530352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Log-normalization transform: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x_new = sign(x) · log(1 + |x|)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benefits: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Compress dynamic range of large deflections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skewness if the distribution has heavy tails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Stabilise variance across low- and high-amplitude channels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practice when:</a:t>
            </a:r>
            <a:b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signal is multiplicative (power, counts, concentrations) and positively skewed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EEG seems like a candidate: </a:t>
            </a:r>
            <a:b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channels exhibited residual skewness even after bandpass, </a:t>
            </a:r>
            <a:b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a simple non-linearity might symmetrise them.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48640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5080" y="1143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FAILED — MEASURED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600200"/>
            <a:ext cx="521208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skewness change (14/14 channels):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log-transform WORSENED skewness on EVERY channel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channel AF3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Before log: skewness = −0.12 (near-Gaussian)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log: skewness = −0.94 (more asymmetric)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— sign preservation: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is zero-mean bipolar after bandpass. </a:t>
            </a:r>
            <a:b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transform expands values near zero and compresses large magnitudes </a:t>
            </a:r>
            <a:b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opposite of what a Gaussian-like signal needs. </a:t>
            </a:r>
            <a:b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artificially separates the distribution into two clumps around ±log(1).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b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log-normalization REJECTED. </a:t>
            </a:r>
            <a:b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signal is already approximately Gaussian — no further transform needed.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Hemispheric Asymmetry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left–right electrode pairs computed as (Left − Right); two show significant eye-state differentiation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3035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30352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50292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Hemispheric asymmetry index: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A_pair = V_left − V_right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asymmetry matters in neuroscience: </a:t>
            </a:r>
            <a:b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is functionally lateralized </a:t>
            </a:r>
            <a:b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frontal-alpha asymmetry correlates with emotional valence (Davidson 1992); </a:t>
            </a:r>
            <a:b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hemispheric symmetry is a biomarker for fatigue and cognitive load.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tested (7 symmetric pairs):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AF3 − AF4  (frontopolar)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F3 − F4   (frontal midline)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F7 − F8   (lateral frontal)</a:t>
            </a:r>
            <a:endParaRPr lang="en-US" sz="1100" b="1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FC5 − FC6 (central pre-motor)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T7 − T8   (temporal)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P7 − P8   (parietal)</a:t>
            </a:r>
            <a:endParaRPr lang="en-US" sz="1100" b="1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O1 − O2   (occipital)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test: </a:t>
            </a:r>
            <a:b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 comparing eye-open vs eye-closed distributions per pair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143000"/>
            <a:ext cx="57607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0" y="1143000"/>
            <a:ext cx="576072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80760" y="1143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WHICH PAIRS MATTER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017625"/>
              </p:ext>
            </p:extLst>
          </p:nvPr>
        </p:nvGraphicFramePr>
        <p:xfrm>
          <a:off x="6080760" y="1737360"/>
          <a:ext cx="5486400" cy="24140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Closed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AF3 − AF4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F3 − F4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F7 − F8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FC5 − FC6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T7 − T8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P7 − P8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O1 − O2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080760" y="420624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b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F7 − F8 flips sign (positive when open, negative when closed) — strong lateral frontal asymmetry. </a:t>
            </a:r>
            <a:b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P7 − P8 also inverts, reflecting parietal attention redistribution when visual input ceases. </a:t>
            </a:r>
            <a:b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5 pairs are not individually discriminative at α=0.05.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b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asymmetry features are kept </a:t>
            </a:r>
            <a:b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(weakly-significant features may still contribute to multivariate models via interactions).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Band Power &amp; the Berger Effect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frequency bands extracted via Welch PSD per channel; alpha ratio confirms classical Berger effect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Power by Eye State</a:t>
            </a:r>
            <a:endParaRPr lang="en-US" sz="1200" dirty="0"/>
          </a:p>
        </p:txBody>
      </p:sp>
      <p:pic>
        <p:nvPicPr>
          <p:cNvPr id="7" name="Image 0" descr="/home/claude/crops/band_pow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17320"/>
            <a:ext cx="5760720" cy="219456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504697"/>
              </p:ext>
            </p:extLst>
          </p:nvPr>
        </p:nvGraphicFramePr>
        <p:xfrm>
          <a:off x="457200" y="3749040"/>
          <a:ext cx="5760720" cy="16459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Closed/Open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0.5–4 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sleep / reduced consciousness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Theta 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 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Drowsiness,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 ↑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Relaxed wakefulness (Berger)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12–30 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focus, cognition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 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 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Higher-order binding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0" y="1143000"/>
            <a:ext cx="53035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400800" y="1143000"/>
            <a:ext cx="530352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537960" y="1143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BERGER EFFECT — HISTORY &amp; MECHANISM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537960" y="1600200"/>
            <a:ext cx="50292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Discovered: </a:t>
            </a:r>
            <a:b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 Berger, 1929 — the inventor of EEG. </a:t>
            </a:r>
            <a:b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human to record brain electrical activity from the scalp.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>
              <a:spcAft>
                <a:spcPts val="200"/>
              </a:spcAft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effect: </a:t>
            </a:r>
            <a:b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Occipital alpha rhythm (8–12 Hz) is SUPPRESSED by visual input. </a:t>
            </a:r>
            <a:b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eyes close, </a:t>
            </a:r>
            <a:b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the thalamocortical loop between </a:t>
            </a:r>
            <a:b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/>
              <a:t>Lateral Geniculate Nucleus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(LGN)  and Primary Visual Cortex (V1) synchronizes,</a:t>
            </a:r>
            <a:b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that yields large amplitude alpha reappears.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observed ratio: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closed/open = 1.13 (+13%)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signal is weaker: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Consumer-grade saline electrodes (higher impedance)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eye-closure instruction — subject may have been blinking rather than sustained closure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Referential montage (CMS) rather than bipolar reduces SNR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classification: </a:t>
            </a:r>
            <a:b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'easy' physiological signal is muted </a:t>
            </a:r>
            <a:b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models must exploit subtle multi-channel interactions rather than a single strong alpha spike.</a:t>
            </a:r>
            <a:endParaRPr lang="en-US" sz="1000" dirty="0"/>
          </a:p>
        </p:txBody>
      </p:sp>
      <p:sp>
        <p:nvSpPr>
          <p:cNvPr id="8" name="Text 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Class Balance Visualisation &amp; Berger Effect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confirmation of class ratios and spectral signature before deeper analysis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pic>
        <p:nvPicPr>
          <p:cNvPr id="7" name="Image 0" descr="/home/claude/crops/class_balanc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17320"/>
            <a:ext cx="5486400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Power — Berger Effect Indicator</a:t>
            </a:r>
            <a:endParaRPr lang="en-US" sz="1300" dirty="0"/>
          </a:p>
        </p:txBody>
      </p:sp>
      <p:pic>
        <p:nvPicPr>
          <p:cNvPr id="9" name="Image 1" descr="/home/claude/crops/band_power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417320"/>
            <a:ext cx="5486400" cy="2194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17920" y="3749040"/>
            <a:ext cx="54864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217920" y="3749040"/>
            <a:ext cx="548640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355080" y="3749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— BERGER EFFECT CONFIRMED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55080" y="42062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(8–12 Hz) ratio closed/open = 1.13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(0.5–4 Hz) ratio = 1.26 (largest absolute band ratio)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bands trend toward higher power when eyes are closed — consistent with reduced sensory input.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846320"/>
            <a:ext cx="3657600" cy="10058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4846320"/>
            <a:ext cx="73152" cy="1005840"/>
          </a:xfrm>
          <a:prstGeom prst="rect">
            <a:avLst/>
          </a:prstGeom>
          <a:solidFill>
            <a:srgbClr val="5B8F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0080" y="4919472"/>
            <a:ext cx="34747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8,257 (55.1%)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40080" y="5449824"/>
            <a:ext cx="34747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EYE-OPEN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51960" y="4846320"/>
            <a:ext cx="3657600" cy="10058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251960" y="4846320"/>
            <a:ext cx="73152" cy="10058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434840" y="4919472"/>
            <a:ext cx="34747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6,723 (44.9%)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4434840" y="5449824"/>
            <a:ext cx="34747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EYE-CLOSED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046720" y="4846320"/>
            <a:ext cx="3657600" cy="100584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046720" y="48463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8229600" y="4919472"/>
            <a:ext cx="34747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1.13×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8229600" y="5449824"/>
            <a:ext cx="34747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RATIO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Box Plots Before &amp; After Preprocessing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dramatic dynamic-range compression achieved by IQR + bandpass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 (spike-dominated, winsorized for display)</a:t>
            </a:r>
            <a:endParaRPr lang="en-US" sz="1200" dirty="0"/>
          </a:p>
        </p:txBody>
      </p:sp>
      <p:pic>
        <p:nvPicPr>
          <p:cNvPr id="7" name="Image 0" descr="/home/claude/crops/box_raw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17320"/>
            <a:ext cx="557784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0" y="1143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IQR + Bandpass Preprocessing</a:t>
            </a:r>
            <a:endParaRPr lang="en-US" sz="1200" dirty="0"/>
          </a:p>
        </p:txBody>
      </p:sp>
      <p:pic>
        <p:nvPicPr>
          <p:cNvPr id="9" name="Image 1" descr="/home/claude/crops/box_after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0" y="1417320"/>
            <a:ext cx="5577840" cy="20116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3611880"/>
            <a:ext cx="55778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57200" y="3611880"/>
            <a:ext cx="557784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94360" y="3611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BOX PLOTS — WHAT THEY SHOW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4360" y="4069080"/>
            <a:ext cx="5303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lines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compressed near zero while whiskers extend 10³–10⁵ µV → asymmetric outlier dominance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Interquartile boxes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invisible at this scale — real physiology is drowned by hardware artifacts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ranges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vary by 5 orders of magnitude (F7: ±700k µV vs T7: ±50 µV)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Highly non-stationary — no single scale fits all channels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3611880"/>
            <a:ext cx="55778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26480" y="3611880"/>
            <a:ext cx="5577840" cy="411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263640" y="3611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BOX PLOTS — WHAT CHANGED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263640" y="4069080"/>
            <a:ext cx="5303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become visible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IQR ranges converge to ±5 to ±25 µV across all channels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Medians sit at 0 µV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confirms DC-offset removal by bandpass filtering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Whiskers are symmetric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residual heavy tails; Gaussian-like distributions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outliers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real physiological events (eye-blinks on frontal channels AF3/AF4, F7/F8), not hardware noise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Histograms by Eye State After Preprocessing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distributions reveal why no single channel is a strong discriminator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hist_aft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11247120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51960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4251960"/>
            <a:ext cx="374904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4251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470916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channels approximately Gaussian around 0 µV after cleaning.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|γ1| &lt; 0.3 on 10/14 channels, |γ1| &lt; 1.0 on all 14.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4251960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97680" y="4251960"/>
            <a:ext cx="374904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434840" y="4251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CLOSED OVERLAP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34840" y="470916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(Open) and Red (Closed) distributions overlap ~85–95% on most channels.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channel separates the classes — multivariate approach required.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38160" y="4251960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38160" y="4251960"/>
            <a:ext cx="3749040" cy="411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4251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SEPARATION EXISTS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75320" y="470916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F7, F8 (frontal lateral): closed distribution slightly wider → higher variance when eyes closed.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O1, O2 (occipital): subtle right-shift in closed state (alpha amplitude increase).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Violin Plots: Density + Box Summary by Eye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kernel density estimation with box-plot landmarks — shape and spread at a glance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violi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11247120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5196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4251960"/>
            <a:ext cx="557784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4251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VIOLIN PLOTS REVEAL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470916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distribution: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show only 5 summary statistics (min, Q1, median, Q3, max). Violins also show the FULL probability density — we can see whether distributions are unimodal, bimodal, or heavy-tailed.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case: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channels are unimodal and approximately symmetric — justifies using linear models (LogReg, LDA) as reasonable baselines.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425196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26480" y="4251960"/>
            <a:ext cx="557784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63640" y="4251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BUT IMPORTANT DIFFERENCES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63640" y="470916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Closed shapes: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Closed-eye violins are slightly FATTER in the middle on O1/O2 — indicating higher concentration of low-amplitude samples (alpha bursts create amplitude structure rather than extremes).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Frontal channels (AF3, F7) show MORE extreme tails when closed — consistent with eye-blink residuals.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bimodality → no hidden sub-populations; a single Gaussian prior per channel is defensible.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Raw Signal (Problematic)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artifacts produce spurious near-perfect correlations that mask the true physiological structure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corr_heatmap_raw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594360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1143000"/>
            <a:ext cx="502920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675120" y="1143000"/>
            <a:ext cx="502920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12280" y="1143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SEEING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12280" y="1600200"/>
            <a:ext cx="475488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Winsorized at 1st–99th percentile for display. Even after clipping, many cells remain saturated red (r &gt; 0.8).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many high correlations?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spikes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when electrodes pop, multiple channels register simultaneously → artifactual cross-channel covariance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Mode Reference (CMS)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all channels share the same reference — subtracting a large drift from the reference creates correlation across all derivations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offset component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channel means co-vary slowly (skin impedance, temperature) — inflates Pearson r on raw data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AF3–AF4 = 0.94, F7–F8 = 0.82 — these look like genuine bilateral coupling, but at this stage we cannot distinguish neural from artifactual sources.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Danger: </a:t>
            </a: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classifier on this data would learn to exploit artifacts, not physiology — catastrophic overfitting to the hardware.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After Preprocessing (Interpretable)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spikes removed and bandpass applied, we now see genuine neural co-activation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corr_correct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594360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1143000"/>
            <a:ext cx="502920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675120" y="1143000"/>
            <a:ext cx="5029200" cy="411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12280" y="1143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CAN INTERPRET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12280" y="1600200"/>
            <a:ext cx="475488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drop globally to physiologically realistic levels.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high correlations (expected):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AF3–AF4 = 0.86 (bilateral frontopolar — shared cognitive state)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F7–F8 = 0.87 (lateral frontal — mirrored executive activity)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F3–F4 = 0.76 (bilateral frontal)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low correlations (revealed):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O1–O2 = 0.58, P7–P8 = 0.44 — bilateral posterior pairs are MORE independent than frontal pairs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T7–T8 = 0.25 — temporal lobes are largely independent (different linguistic vs visual processing)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correlations: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Frontal–Occipital &lt; 0.2 → expected (no direct anatomical connection)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Frontal–Temporal ~ 0.3–0.5 → expected (fronto-temporal cognitive networks)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heatmap matches published EEG atlases — our preprocessing is correct.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Collinearity Analysis — Why Some Pairs Stay Coupled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residual correlations are PHYSIOLOGICAL, not artifactual — they shape model choice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5778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57784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BILATERAL FRONTAL PAIRS STAY HIGH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530352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F7–F8 remains at r = 0.87 after cleaning — is that a problem?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Neuroanatomical reason: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callosum — 200+ million axons connecting the two hemispheres </a:t>
            </a:r>
            <a:b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ensures that frontal cortex activity is tightly coupled across sides during routine cognition. In a resting subject this is the default state.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reason: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frontal lobes participate in the same executive function (attention, inhibition, working memory). They receive common top-down input from the anterior cingulate and basal ganglia.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REAL information, not redundancy. Removing one of the pair loses the ability to compute asymmetry features, which ARE discriminative.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48640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5080" y="1143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MODEL-SPECIFIC IMPLICATIONS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600200"/>
            <a:ext cx="521208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Collinearity degrades some models, not others: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(problematic):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Regression — coefficients become unstable when r &gt; 0.9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Discriminant Analysis — covariance matrix becomes near-singular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SVMs — dual weights diverge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(OK):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— randomly samples √p features per split, implicitly breaks collinearity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Boosting — sequential splits explore alternative features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Neural networks (LSTM, CNN, Transformer) — distributed representations absorb redundancy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choice: </a:t>
            </a:r>
            <a:b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regularisation (Ridge) on LogReg and SVM prevents divergence; </a:t>
            </a:r>
            <a:b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handle it natively. </a:t>
            </a:r>
            <a:b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is dropped.</a:t>
            </a:r>
            <a:endParaRPr lang="en-US" sz="1100" b="1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Analysis — FFT Theory &amp; Motivation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Fourier Transform decomposes time-domain signal into frequency components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5778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57784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FOURIER TRANSFORM (FFT)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530352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finite signal x[n] can be expressed as a sum of sinusoids at discrete frequencies. FFT computes the amplitude and phase of each.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Fourier Transform formula: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X[k] = Σ x[n] · exp(−j 2π kn / N)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= 0 … N−1, where N = window length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algorithm: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Cooley–Tukey recursive decomposition reduces O(N²) to O(N log N) — makes real-time spectral analysis feasible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for our data: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Sampling rate: 128 Hz → Nyquist = 64 Hz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Frequency resolution: 128/N Hz (improves with longer window)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 function: Hann (reduces spectral leakage)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48640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5080" y="1143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FREQUENCY ANALYSIS FOR EEG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600200"/>
            <a:ext cx="521208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is fundamentally an oscillatory signal.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brain states are characterised by activity in different frequency bands, not by time-domain amplitude patterns.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EEG bands (rediscovered in our data):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deep sleep, pathology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drowsiness, memory encoding (hippocampus)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resting wakefulness, eyes closed (Berger)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active focus, motor control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feature binding, high-level cognition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of FFT alone: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assumes stationarity over the window. EEG is non-stationary — this motivates PSD via Welch's method (next slide), which averages FFTs over overlapping segments to stabilise the estimate.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Frequency Spectrum — All 14 Channels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 amplitude vs frequency; shaded bands mark Delta/Theta/Alpha/Beta/Gamma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425196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4251960"/>
            <a:ext cx="557784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4251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ACROSS CHANNELS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470916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1/f shape: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channels show a power-law decay — amplitude roughly proportional to 1/frequency. This is the classic pink-noise signature of cortical activity.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similarity: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 channels (AF3, F7, F3) share a steeper slope; occipital (O1, O2) have a small bump in the alpha band (8–12 Hz) — the only visible deviation from pure 1/f.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425196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26480" y="4251960"/>
            <a:ext cx="557784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63640" y="4251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ABSENT — AND WHY IT MATTERS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63640" y="470916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sharp narrow-band peak anywhere.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adult at rest with eyes closed typically shows a prominent alpha peak rising ~5–10× above the 1/f background. Our occipital bump is &lt; 2×.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alpha signature that defines the Berger effect is subtle in this recording — classifiers must integrate multi-channel evidence rather than rely on one strong spectral feature.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45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165C6B3-9A18-C274-B10D-304B2A5FD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39" y="1161288"/>
            <a:ext cx="8915682" cy="252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Spectral Density — Welch's Method by Eye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FFT over overlapping windows → stable spectral estimate; direct comparison of Open vs Closed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4434840"/>
            <a:ext cx="5577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4434840"/>
            <a:ext cx="557784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4434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METHOD — HOW IT WORKS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489204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Split signal into overlapping segments (50% overlap, Hann window)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FFT of each segment, take squared magnitude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Average across segments → reduces variance of the spectral estimate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smooth, reliable PSD that converges to the true spectrum as segment count grows.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4434840"/>
            <a:ext cx="5577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26480" y="4434840"/>
            <a:ext cx="557784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63640" y="4434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CLOSED COMPARISON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63640" y="489204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Closed-eye PSD (red) sits ABOVE open-eye PSD (blue) across the Delta, Theta, Alpha, Beta bands on occipital and parietal channels.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is largest in the 4–15 Hz range — confirms Delta, Theta, Alpha contribution to classification.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45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C3594B-ADDD-B014-C432-7D1EB312D5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" t="571" r="-379" b="42"/>
          <a:stretch>
            <a:fillRect/>
          </a:stretch>
        </p:blipFill>
        <p:spPr>
          <a:xfrm>
            <a:off x="1299209" y="1005493"/>
            <a:ext cx="9490711" cy="3329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0E2B1-17E6-505D-4AF9-723C51DF3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B0929B6-493E-3516-8767-CA93DE6A8A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" t="51374" r="42309" b="42"/>
          <a:stretch>
            <a:fillRect/>
          </a:stretch>
        </p:blipFill>
        <p:spPr>
          <a:xfrm>
            <a:off x="643467" y="1801617"/>
            <a:ext cx="10905066" cy="3254765"/>
          </a:xfrm>
          <a:prstGeom prst="rect">
            <a:avLst/>
          </a:prstGeom>
          <a:ln>
            <a:noFill/>
          </a:ln>
        </p:spPr>
      </p:pic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564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94CC4-BDFB-03AC-8D35-D183453DF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43499F2-452B-5BDC-97A2-2B9A25B1C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732015D-BED8-A861-54AD-E73D2FF61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12CFB1-6831-253D-791B-D8C949E13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2D6BE1-2765-8344-B167-064AD32AF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19C9871-B8EE-4DF1-B9CC-EBFD28EC2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5BED4ACF-32C5-57BA-301A-EE4374FD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6811BA4-AAB6-7B7B-0B78-1178B880A3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" t="51374" r="42309" b="42"/>
          <a:stretch>
            <a:fillRect/>
          </a:stretch>
        </p:blipFill>
        <p:spPr>
          <a:xfrm>
            <a:off x="643467" y="1801617"/>
            <a:ext cx="10905066" cy="3254765"/>
          </a:xfrm>
          <a:prstGeom prst="rect">
            <a:avLst/>
          </a:prstGeom>
          <a:ln>
            <a:noFill/>
          </a:ln>
        </p:spPr>
      </p:pic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0194222E-5842-FA37-006C-85062CA0E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82984E-27BA-64F7-988B-2FBEA0CAAB44}"/>
              </a:ext>
            </a:extLst>
          </p:cNvPr>
          <p:cNvGrpSpPr/>
          <p:nvPr/>
        </p:nvGrpSpPr>
        <p:grpSpPr>
          <a:xfrm>
            <a:off x="1263240" y="2104320"/>
            <a:ext cx="8812318" cy="811600"/>
            <a:chOff x="1263240" y="2104320"/>
            <a:chExt cx="8812318" cy="811600"/>
          </a:xfrm>
        </p:grpSpPr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CD2B5E0F-6CD6-5A2F-8DA3-7A8542D63037}"/>
                </a:ext>
              </a:extLst>
            </p:cNvPr>
            <p:cNvSpPr/>
            <p:nvPr/>
          </p:nvSpPr>
          <p:spPr>
            <a:xfrm>
              <a:off x="1263240" y="2226240"/>
              <a:ext cx="548640" cy="548640"/>
            </a:xfrm>
            <a:prstGeom prst="ellipse">
              <a:avLst/>
            </a:prstGeom>
            <a:solidFill>
              <a:srgbClr val="E71224">
                <a:alpha val="5000"/>
              </a:srgbClr>
            </a:solidFill>
            <a:ln w="12600">
              <a:solidFill>
                <a:srgbClr val="E712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de-DE">
                <a:solidFill>
                  <a:srgbClr val="E71224"/>
                </a:solidFill>
              </a:endParaRPr>
            </a:p>
          </p:txBody>
        </p:sp>
        <p:sp>
          <p:nvSpPr>
            <p:cNvPr id="28" name="Ovaal 9">
              <a:extLst>
                <a:ext uri="{FF2B5EF4-FFF2-40B4-BE49-F238E27FC236}">
                  <a16:creationId xmlns:a16="http://schemas.microsoft.com/office/drawing/2014/main" id="{A07D0661-75B6-BA1E-8223-5E486A774ACE}"/>
                </a:ext>
              </a:extLst>
            </p:cNvPr>
            <p:cNvSpPr/>
            <p:nvPr/>
          </p:nvSpPr>
          <p:spPr>
            <a:xfrm>
              <a:off x="4077560" y="2104320"/>
              <a:ext cx="548640" cy="548640"/>
            </a:xfrm>
            <a:prstGeom prst="ellipse">
              <a:avLst/>
            </a:prstGeom>
            <a:solidFill>
              <a:srgbClr val="E71224">
                <a:alpha val="5000"/>
              </a:srgbClr>
            </a:solidFill>
            <a:ln w="12600">
              <a:solidFill>
                <a:srgbClr val="E712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de-DE">
                <a:solidFill>
                  <a:srgbClr val="E71224"/>
                </a:solidFill>
              </a:endParaRPr>
            </a:p>
          </p:txBody>
        </p:sp>
        <p:sp>
          <p:nvSpPr>
            <p:cNvPr id="30" name="Ovaal 9">
              <a:extLst>
                <a:ext uri="{FF2B5EF4-FFF2-40B4-BE49-F238E27FC236}">
                  <a16:creationId xmlns:a16="http://schemas.microsoft.com/office/drawing/2014/main" id="{CD1805BF-365D-97FF-FCA5-82F50F040691}"/>
                </a:ext>
              </a:extLst>
            </p:cNvPr>
            <p:cNvSpPr/>
            <p:nvPr/>
          </p:nvSpPr>
          <p:spPr>
            <a:xfrm>
              <a:off x="6739480" y="2136000"/>
              <a:ext cx="548640" cy="548640"/>
            </a:xfrm>
            <a:prstGeom prst="ellipse">
              <a:avLst/>
            </a:prstGeom>
            <a:solidFill>
              <a:srgbClr val="E71224">
                <a:alpha val="5000"/>
              </a:srgbClr>
            </a:solidFill>
            <a:ln w="12600">
              <a:solidFill>
                <a:srgbClr val="E712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de-DE">
                <a:solidFill>
                  <a:srgbClr val="E71224"/>
                </a:solidFill>
              </a:endParaRPr>
            </a:p>
          </p:txBody>
        </p:sp>
        <p:sp>
          <p:nvSpPr>
            <p:cNvPr id="32" name="Ovaal 9">
              <a:extLst>
                <a:ext uri="{FF2B5EF4-FFF2-40B4-BE49-F238E27FC236}">
                  <a16:creationId xmlns:a16="http://schemas.microsoft.com/office/drawing/2014/main" id="{F8472765-B4B9-F7FD-CA40-D1DF39008F62}"/>
                </a:ext>
              </a:extLst>
            </p:cNvPr>
            <p:cNvSpPr/>
            <p:nvPr/>
          </p:nvSpPr>
          <p:spPr>
            <a:xfrm>
              <a:off x="9378118" y="2218480"/>
              <a:ext cx="697440" cy="697440"/>
            </a:xfrm>
            <a:prstGeom prst="ellipse">
              <a:avLst/>
            </a:prstGeom>
            <a:solidFill>
              <a:srgbClr val="E71224">
                <a:alpha val="5000"/>
              </a:srgbClr>
            </a:solidFill>
            <a:ln w="12600">
              <a:solidFill>
                <a:srgbClr val="E712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de-DE">
                <a:solidFill>
                  <a:srgbClr val="E7122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4021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Analysis — Summary &amp;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FFT + PSD + band-power evidence before moving to modelling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577840" cy="246888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5778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82880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1/f background observed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19659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channels show the expected pink-noise slope — our preprocessing did not distort the underlying spectral profile. Physiological validity preserved.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577840" cy="246888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5577840" cy="731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58952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bump is weak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9520" y="19659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Berger-effect signature is present but small (ratio = 1.13 vs literature 2–5×). Classification is harder here than on research-grade EEG datasets.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577840" cy="246888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5577840" cy="73152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8288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dominates energy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45720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band carries the largest absolute power (~60 µV² mean) and the biggest closed/open ratio (1.26). Low frequencies matter more than expected.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794760"/>
            <a:ext cx="5577840" cy="246888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3794760"/>
            <a:ext cx="5577840" cy="7315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40233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758952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integration required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89520" y="45720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channel shows strong discriminative power in isolation. Models must learn joint spatial-spectral patterns — favours DL over single-channel ML.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— Methodology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116-dim feature vector (14 raw + 14 rolling mean + 14 rolling std + 70 FFT features + 4 band ratios); reduce to 1–2 dims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5778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57784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DIMENSIONALITY REDUCTION?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530352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116-dim input, visualising class separability requires projection to 1–3 dimensions.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approaches: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LDA (Linear Discriminant Analysis)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Supervised linear projection maximising between-class / within-class scatter ratio. Theoretical optimum for Gaussian-class data.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t-SNE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Non-linear, unsupervised. Preserves LOCAL neighbourhood structure. Reveals clusters but distorts global distances.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UMAP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Non-linear, unsupervised. Preserves BOTH local and global structure via manifold approximation. More scalable and deterministic than t-SNE.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48640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5080" y="1143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QUALITY METRICS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026253"/>
              </p:ext>
            </p:extLst>
          </p:nvPr>
        </p:nvGraphicFramePr>
        <p:xfrm>
          <a:off x="6355080" y="1737360"/>
          <a:ext cx="5212080" cy="120700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 (1D)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0.1556 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1.5464 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2137.80 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t-SNE (2D)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UMAP (2D)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3.6491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355080" y="320040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definitions: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Silhouette (∈ [−1, 1]): how close points are to their own cluster vs nearest other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Davies-Bouldin (≥ 0): lower = better separation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Calinski-Harabasz: higher = better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sweeps all three metrics — supervised projection dominates when classes exist.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— Linear Discriminant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1D projection that maximises class separation; best-performing reduction method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lda.jpg"/>
          <p:cNvPicPr>
            <a:picLocks noChangeAspect="1"/>
          </p:cNvPicPr>
          <p:nvPr/>
        </p:nvPicPr>
        <p:blipFill>
          <a:blip r:embed="rId3"/>
          <a:srcRect t="10000"/>
          <a:stretch>
            <a:fillRect/>
          </a:stretch>
        </p:blipFill>
        <p:spPr>
          <a:xfrm>
            <a:off x="457200" y="1600200"/>
            <a:ext cx="53035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143000"/>
            <a:ext cx="57607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143000"/>
            <a:ext cx="576072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143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LDA WORKS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600200"/>
            <a:ext cx="54864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 (Fisher's criterion):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J(w) = (wᵀ S_B w) / (wᵀ S_W w)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S_B = between-class scatter, S_W = within-class scatter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solution: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 of S_W⁻¹ S_B — for binary classification, produces exactly 1 discriminant axis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chart shows: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X-axis: LD1 projection value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Y-axis: sample density (KDE)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Blue distribution = Eye Open, Red = Eye Closed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two peaks are displaced by ~1.5 standard deviations — modest but real separation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of Silhouette 0.1556: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silhouette means points are on average closer to their own class centroid than to the other — a linear boundary IS separating the classes, just with significant overlap.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assumes multivariate Gaussian classes with equal covariance — EEG approximately satisfies this after preprocessing.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— t-Distributed Stochastic Neighbour Embedding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Non-linear, unsupervised, perplexity=30 → local cluster structure but no strong global separation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tsne.jpg"/>
          <p:cNvPicPr>
            <a:picLocks noChangeAspect="1"/>
          </p:cNvPicPr>
          <p:nvPr/>
        </p:nvPicPr>
        <p:blipFill>
          <a:blip r:embed="rId3"/>
          <a:srcRect t="2403"/>
          <a:stretch>
            <a:fillRect/>
          </a:stretch>
        </p:blipFill>
        <p:spPr>
          <a:xfrm>
            <a:off x="457200" y="1287624"/>
            <a:ext cx="5303520" cy="4015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143000"/>
            <a:ext cx="57607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143000"/>
            <a:ext cx="576072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143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t-SNE WORKS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600200"/>
            <a:ext cx="54864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pairwise SIMILARITIES between nearby points, discarding global distances.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steps: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High-D: compute p(i,j) = Gaussian kernel over distances (perplexity controls kernel width)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Low-D: place points to minimise KL(p || q) where q uses heavy-tailed t-distribution → prevents crowding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used: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perplexity = 30 (typical local-neighbourhood size)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learning_rate = 'auto'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 = PCA (deterministic start)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plot shows: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(Closed) and blue (Open) points overlap heavily. Small local sub-clusters exist but do not separate by class — class information is not carried by LOCAL feature-space neighbourhoods.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caveats: </a:t>
            </a: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results vary with random seed and perplexity; never interpret cluster sizes or inter-cluster distances as meaningful.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— Uniform Manifold Approximation &amp; Projection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Non-linear, unsupervised, preserves both local AND global structure; more stable than t-SNE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umap.jpg"/>
          <p:cNvPicPr>
            <a:picLocks noChangeAspect="1"/>
          </p:cNvPicPr>
          <p:nvPr/>
        </p:nvPicPr>
        <p:blipFill>
          <a:blip r:embed="rId3"/>
          <a:srcRect t="2857"/>
          <a:stretch>
            <a:fillRect/>
          </a:stretch>
        </p:blipFill>
        <p:spPr>
          <a:xfrm>
            <a:off x="457200" y="1306286"/>
            <a:ext cx="5303520" cy="39972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143000"/>
            <a:ext cx="57607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143000"/>
            <a:ext cx="5760720" cy="411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143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UMAP WORKS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600200"/>
            <a:ext cx="54864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data lies on a Riemannian manifold; constructs a fuzzy simplicial complex in high-D and finds the low-D embedding that best preserves it.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sketch: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k-NN graph in high-D (k=15 default)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Assign fuzzy edge weights from local connectivity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Optimise low-D layout to match high-D topology via cross-entropy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over t-SNE: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Preserves global structure — inter-cluster distances are meaningful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given a seed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Scales to millions of points (t-SNE is O(n²))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plot shows: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better visual separation than t-SNE (silhouette 0.065 vs 0.055), with a thin gradient between classes — consistent with continuous eye-state rather than sharp dichotomy.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non-linear methods confirm that class structure is WEAK — supervision is essential.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Methodology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algorithms × 3 chronological splits (60/20/20, 70/15/15, 80/10/10); balanced weights + CV-optimised thresholds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212848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61488" y="1143000"/>
            <a:ext cx="2212848" cy="8229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52928" y="11887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SVM-RBF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52928" y="15544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(Gaussian kernel)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65776" y="1143000"/>
            <a:ext cx="2212848" cy="8229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57216" y="11887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57216" y="15544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70064" y="1143000"/>
            <a:ext cx="2212848" cy="8229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61504" y="11887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61504" y="15544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(sklearn)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74352" y="1143000"/>
            <a:ext cx="2212848" cy="822960"/>
          </a:xfrm>
          <a:prstGeom prst="rect">
            <a:avLst/>
          </a:prstGeom>
          <a:solidFill>
            <a:srgbClr val="7B2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765792" y="11887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65792" y="15544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(histogram)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55778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103120"/>
            <a:ext cx="5577840" cy="4114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2103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PROTOCOL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560320"/>
            <a:ext cx="53035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Train/Validate/Test splits (ALL chronological, no shuffle):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 / 20 / 20 — more validation data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70 / 15 / 15 — standard benchmark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 / 10 / 10 — most training data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Chronological?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15% of the recording contains only 8.1% closed-eye samples. Random shuffling would DESTROY this temporal drift signal — giving misleadingly optimistic results.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Balanced class weights: w_c = N / (2·N_c)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CV-optimised decision threshold: grid-searched [0.1, 0.9] per model per split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103120"/>
            <a:ext cx="54864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2103120"/>
            <a:ext cx="548640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2103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560320"/>
            <a:ext cx="52120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Macro-F1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= (F1_open + F1_closed) / 2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both classes equally — robust to test-partition imbalance (91% open vs 9% closed in the last quartile).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 — classic, inflated by imbalance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Binary-F1 (closed class) — tracks minority recall × precision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AUC-ROC — threshold-independent ranking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caveat: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test priors differ from train, AUC may flip (&lt; 0.5) when models correctly rank CV but reverse ranking on test — hallmark of concept drift.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/ 5 — Logistic Regression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★ best ML model by Macro-F1. Linear, interpretable, most stable across splits.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6692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66928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MATHEMATICS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539496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P(y=1 | x) = σ(wᵀx + b),     σ(z) = 1 / (1 + e^−z)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— binary cross-entropy: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 = − Σ [y log p + (1−y) log(1−p)]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→ unique global minimum, efficient L-BFGS solver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hyperparameters: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penalty = L2 (Ridge)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 = 1.0 (inverse regularisation strength)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class_weight = 'balanced'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max_iter = 1000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here: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preprocessing, features are approximately Gaussian and roughly linearly separable (LDA Silhouette = 0.156). Logistic Regression is the natural fit.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143000"/>
            <a:ext cx="539496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1143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WHY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691640"/>
          <a:ext cx="5166360" cy="14630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60/20/20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70/15/15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80/10/10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0.4665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46520" y="3520440"/>
            <a:ext cx="5166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LogReg WINS Macro-F1: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Lowest variance across splits (std = 0.013) — most stable under temporal drift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L2 regularisation damps collinear frontal features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Balanced weights force boundary away from majority class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AUC is LOW (0.30):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class reshuffling inverts learned ranking; Macro-F1 survives threshold tuning, AUC does not.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requiring interpretability, fast inference, calibrated probabilities, and stability under distribution shift.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/ 5 — SVM with RBF Kernel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maximum-margin classifier; competitive but less stable than LogReg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6692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66928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MATHEMATICS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539496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formulation (kernel trick):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f(x) = Σ αᵢ yᵢ K(xᵢ, x) + b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(Gaussian) kernel: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K(xᵢ, xⱼ) = exp(−γ ‖xᵢ − xⱼ‖²)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mapping to infinite-dimensional space — can fit any continuous decision boundary.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programming — convex but O(n²)–O(n³) memory. Unsuitable for n &gt; 100k.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hyperparameters: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kernel = 'rbf'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 = 1.0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gamma = 'scale' (1 / (n_features × var(X)))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= True (Platt scaling for AUC)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class_weight = 'balanced'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143000"/>
            <a:ext cx="539496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1143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WHY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691640"/>
          <a:ext cx="5166360" cy="14630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60/20/20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70/15/15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80/10/10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46520" y="3520440"/>
            <a:ext cx="5166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SVM underperforms LogReg: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RBF kernel over-fits the training distribution — when concept drift moves the test cloud, learned curvature no longer applies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variance across splits (MacroF1 range: 0.389 → 0.480)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SVM SHINES: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80/10/10 gives accuracy 0.92 — when train/test are temporally close, non-linear boundary captures real structure.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datasets (n &lt; 10k) with stationary distribution, genuinely non-linear separation, and where top accuracy matters more than stability.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/ 5 — Random Forest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 decorrelated decision trees; provides feature importance for interpretability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6692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66928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MATHEMATICS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539496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(bagging):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ŷ = majority_vote( T₁(x), T₂(x), …, T_B(x) 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Trained on a bootstrap sample of rows (with replacement)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 each node, considers √p random features (not all 14)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Splits using Gini impurity minimisation: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Gini(t) = 1 − Σ p_c²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hyperparameters: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 = 200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 = None (grow to purity)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min_samples_split = 2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class_weight = 'balanced'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F7, F8, FC5, AF3, AF4 dominate — frontal-lateral channels pick up eye-blink artifacts, which correlate with eye-state.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143000"/>
            <a:ext cx="539496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1143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WHY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691640"/>
          <a:ext cx="5166360" cy="14630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60/20/20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70/15/15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80/10/10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46520" y="3520440"/>
            <a:ext cx="5166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RF is competitive: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collinearity natively (random feature subset per split)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feature-scaling required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variance reduction via bagging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doesn't WIN: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Trees grown to purity overfit training distribution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Bagging reduces variance but not BIAS against distribution shift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 with heterogeneous feature scales, when interpretability via feature importance is required, and when training time is not critical.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4–5 / 5 — Gradient Boosting &amp; XGBoost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boosting ensembles; share core idea but differ in optimisation and regularisation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PRINCIPLE — GRADIENT BOOSTING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additive model:  </a:t>
            </a: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F_m(x) = F_{m-1}(x) + η · h_m(x)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where h_m fits the negative gradient of the loss at step m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new tree corrects the previous ensemble's residual errors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 rate η (shrinkage) controls how much each tree contributes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Contrast with Random Forest: RF trees are independent (parallel); GBM trees are sequential (cumulative correction)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5623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562356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(scikit-learn)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383280"/>
          <a:ext cx="2560320" cy="12801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60/20/20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70/15/15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80/10/10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3246120" y="338328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n=200, lr=0.1, depth=5</a:t>
            </a:r>
            <a:endParaRPr lang="en-US" sz="1000" dirty="0"/>
          </a:p>
          <a:p>
            <a:pPr marL="0" indent="0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VARIANCE across splits (std MacroF1 = 0.038). Depth-5 constraint prevents overfitting to spikes.</a:t>
            </a:r>
            <a:endParaRPr lang="en-US" sz="1000" dirty="0"/>
          </a:p>
          <a:p>
            <a:pPr marL="0" indent="0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benchmarks, calibrated probability estimates.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72200" y="2880360"/>
            <a:ext cx="55321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172200" y="2880360"/>
            <a:ext cx="5532120" cy="411480"/>
          </a:xfrm>
          <a:prstGeom prst="rect">
            <a:avLst/>
          </a:prstGeom>
          <a:solidFill>
            <a:srgbClr val="7B2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309360" y="288036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(extreme gradient boosting)</a:t>
            </a:r>
            <a:endParaRPr lang="en-US" sz="110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383280"/>
          <a:ext cx="2560320" cy="12801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60/20/20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70/15/15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80/10/10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8961120" y="3383280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n=200, lr=0.1, scale_pos_weight</a:t>
            </a:r>
            <a:endParaRPr lang="en-US" sz="1000" dirty="0"/>
          </a:p>
          <a:p>
            <a:pPr marL="0" indent="0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Extras: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L1+L2 reg on leaves, histogram-based splits, handles missing values natively.</a:t>
            </a:r>
            <a:endParaRPr lang="en-US" sz="1000" dirty="0"/>
          </a:p>
          <a:p>
            <a:pPr marL="0" indent="0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worse than GBM: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regularisation is too aggressive — under-fits weak signal. Would benefit from hyperparameter search.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Comparison — ROC Curves &amp; Feature Importance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models visualised together; RandomForest feature importance explains channel-level signal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70/15/15 Test Partition</a:t>
            </a:r>
            <a:endParaRPr lang="en-US" sz="1200" dirty="0"/>
          </a:p>
        </p:txBody>
      </p:sp>
      <p:pic>
        <p:nvPicPr>
          <p:cNvPr id="7" name="Image 0" descr="/home/claude/crops/roc_m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17320"/>
            <a:ext cx="5760720" cy="3017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143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Feature Importance</a:t>
            </a:r>
            <a:endParaRPr lang="en-US" sz="1200" dirty="0"/>
          </a:p>
        </p:txBody>
      </p:sp>
      <p:pic>
        <p:nvPicPr>
          <p:cNvPr id="9" name="Image 1" descr="/home/claude/crops/feature_importance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417320"/>
            <a:ext cx="5303520" cy="3017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572000"/>
            <a:ext cx="57607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57200" y="4572000"/>
            <a:ext cx="576072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94360" y="4572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OBSERVATION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4360" y="50292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ROC curves sit BELOW the diagonal on this split (AUC range 0.36–0.40).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ranking WORSE than random means classes have reordered between train and test — hallmark of concept drift. The test set's last-quartile eye-state distribution (8% closed) inverts the signal direction.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0" y="4572000"/>
            <a:ext cx="5303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00800" y="4572000"/>
            <a:ext cx="5303520" cy="411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53796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OBSERVATION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537960" y="50292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 channels dominate: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(0.084), F8 (0.078), FC5 (0.077), AF3 (0.076), AF4 (0.073)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 electrodes detect eye-blink EMG artifacts — a strong proxy for eye-state.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Occipital O1, O2 rank mid-table despite being the classical Berger site.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Train / CV / Test Loss Curves — A Diagnostic Guide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examining DL results, understand what each curve pattern signals about the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49040" cy="24231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749040" cy="7315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fit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CV curves decrease together and plateau close to each other. Small gap = good generalisation.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model learned real structure. Continue briefly then stop.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143000"/>
            <a:ext cx="3749040" cy="24231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0" y="1143000"/>
            <a:ext cx="3749040" cy="731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1307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(LSTM, CNN-LSTM)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keeps decreasing, CV loss starts rising. Gap widens over epochs.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2743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model memorises training set. Remedies: early stopping, dropout, more data, smaller capacity.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143000"/>
            <a:ext cx="3749040" cy="24231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38160" y="1143000"/>
            <a:ext cx="3749040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75320" y="1307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(Transformer)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 and CV losses plateau at high values; curves are nearly identical and flat.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75320" y="2743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insufficient capacity OR feature signal too weak. Increase model size, better features, tune LR.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3749040" cy="24231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3749040" cy="73152"/>
          </a:xfrm>
          <a:prstGeom prst="rect">
            <a:avLst/>
          </a:prstGeom>
          <a:solidFill>
            <a:srgbClr val="7B2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822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too high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206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oscillate violently or diverge. Train loss may spike randomly.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5257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optimiser bouncing out of loss basins. Reduce LR 10×, use cosine or warmup.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3657600"/>
            <a:ext cx="3749040" cy="24231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97680" y="3657600"/>
            <a:ext cx="3749040" cy="73152"/>
          </a:xfrm>
          <a:prstGeom prst="rect">
            <a:avLst/>
          </a:prstGeom>
          <a:solidFill>
            <a:srgbClr val="5B8F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34840" y="3822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Class-collapse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34840" y="4206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drops briefly then flatlines; CV loss flat at different level. All predictions = majority class.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34840" y="5257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trivial solution found. Remedies: balanced loss, threshold tuning, re-sampling.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3657600"/>
            <a:ext cx="3749040" cy="24231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38160" y="3657600"/>
            <a:ext cx="37490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75320" y="3822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Pathological — noisy CV (PatchTST)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75320" y="4206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loss oscillates unpredictably while train descends smoothly. Gap is large and non-monotonic.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75320" y="5257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small CV set + high model variance. Remedies: more CV data, fewer parameters, ensemble.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Architectures &amp; Training Protocol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architectures from lightweight (~400 params) to heavy (~200k); shared training config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212848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61488" y="1143000"/>
            <a:ext cx="2212848" cy="1097280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52928" y="11887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52928" y="15544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52928" y="18288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65776" y="1143000"/>
            <a:ext cx="2212848" cy="1097280"/>
          </a:xfrm>
          <a:prstGeom prst="rect">
            <a:avLst/>
          </a:prstGeom>
          <a:solidFill>
            <a:srgbClr val="5B8F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57216" y="11887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Transformer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57216" y="15544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57216" y="18288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70064" y="1143000"/>
            <a:ext cx="2212848" cy="10972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61504" y="11887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61504" y="15544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Domain-CNN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61504" y="18288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74352" y="1143000"/>
            <a:ext cx="2212848" cy="10972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65792" y="11887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Lite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65792" y="15544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Patch-TFM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65792" y="18288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377440"/>
            <a:ext cx="11247120" cy="402336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2468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TRAINING CONFIGURATION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288036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binary cross-entropy: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 = − Σ w_c [y log p + (1−y) log(1−p)]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w_c = N / (2 · N_c)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(lr=1e-3, weight_decay=1e-4)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weight decay for cleaner regularisation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CosineAnnealingLR over 25 epochs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decay to η_min = 0 at final epoch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88036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window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SEQ_LEN = 64 samples (≈500 ms @ 128 Hz)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to capture 2 full alpha cycles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/ epochs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= 64  ·  epochs = 25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stopping (shown for diagnostic value)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(where available); fp32 training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 per model: 5–15 min across 3 splits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sweep on CV: 0.1 → 0.95 step 0.05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arg-max Macro-F1 per model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Algorithm 1 / 5 — LSTM (Long Short-Term Memory)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stacked bidirectional LSTM layers → temporal pooling → MLP classifier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lstm_los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530352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143000"/>
            <a:ext cx="57607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143000"/>
            <a:ext cx="576072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143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MATHEMATICS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600200"/>
            <a:ext cx="54864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stack: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(64 × 14) → LSTM(hidden=64) → LSTM(hidden=64) → AvgPool → Dropout(0.3) → Dense(2)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cell equations: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f_t = σ(W_f · [h_{t-1}, x_t] + b_f)      forget gate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i_t = σ(W_i · [h_{t-1}, x_t] + b_i)       input gate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C_t = f_t ⊙ C_{t-1} + i_t ⊙ tanh(…)    cell state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o_t = σ(W_o · [h_{t-1}, x_t] + b_o)     output gate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h_t = o_t ⊙ tanh(C_t)                         hidden state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~200,000 (heaviest of our DL models)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114800"/>
            <a:ext cx="54406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4114800"/>
            <a:ext cx="544068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41148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(70/15/15)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4572000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</a:t>
            </a: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0.4177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0.5908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0.5655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such results: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 shows severe overfitting — train 0.04, CV 2.86 at epoch 25. High capacity + no early stopping.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4114800"/>
            <a:ext cx="57150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89320" y="4114800"/>
            <a:ext cx="5715000" cy="411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26480" y="411480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/ CAVEATS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4572000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time-series where temporal order carries most information and data volume is sufficient (&gt;100k samples) to prevent overfitting.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here: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× 13,606 samples is small for 200k parameters; vanishing gradients minor but present.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Algorithm 2 / 5 — CNN-LSTM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convolutional front-end extracts local temporal features, then LSTM models the sequence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cnn_lstm_los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530352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143000"/>
            <a:ext cx="57607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143000"/>
            <a:ext cx="5760720" cy="411480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143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MATHEMATICS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600200"/>
            <a:ext cx="54864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stack: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(64 × 14) → Conv1D(32, k=5) → ReLU → MaxPool → Conv1D(64, k=3) → ReLU → MaxPool → LSTM(hidden=64) → Dropout(0.3) → Dense(2)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operation: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y_t^(f) = ReLU( Σ_{k,c} w_{k,c}^(f) · x_{t+k, c} + b^(f) 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size 5 covers ~40 ms → captures local oscillatory bursts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CNN + LSTM together: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CNN is a learned filter bank — picks up frequency-band-like features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 models the SEQUENCE of these features — temporal arrangement of bursts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Hybrid is standard in speech recognition (CNN → RNN → CTC)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~150,000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114800"/>
            <a:ext cx="54406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4114800"/>
            <a:ext cx="544068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41148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(70/15/15)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4572000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</a:t>
            </a: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0.4837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</a:t>
            </a: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0.7119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0.7086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improved over plain LSTM: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front-end learns noise-robust features before temporal integration; AUC jumps 0.59 → 0.71.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4114800"/>
            <a:ext cx="57150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89320" y="4114800"/>
            <a:ext cx="5715000" cy="411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26480" y="411480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/ CAVEATS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4572000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where local pattern recognition + longer-range context both matter (speech, ECG, EEG, IMU).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overfits noticeably (CV loss reaches 2.3); kernel size and pooling stride need tuning.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Algorithm 3 / 5 — EEG Transformer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CLS-token Transformer with sinusoidal positional encoding and 3 encoder layers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eegtrans_los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530352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143000"/>
            <a:ext cx="57607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143000"/>
            <a:ext cx="5760720" cy="411480"/>
          </a:xfrm>
          <a:prstGeom prst="rect">
            <a:avLst/>
          </a:prstGeom>
          <a:solidFill>
            <a:srgbClr val="5B8F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143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MATHEMATICS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600200"/>
            <a:ext cx="54864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stack: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(64 × 14) → Linear(64 → 32) → + PE → Prepend [CLS] → 3× TransformerEncoderLayer → extract [CLS] → Dense(2)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Attn(Q, K, V) = softmax( Q Kᵀ / √d_k ) · V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= 4, dim = 32, feedforward = 128, dropout = 0.1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attention for EEG: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time-step attends to every other → long-range temporal dependencies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Cross-electrode attention picks up spatial interactions without hand-crafted features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token: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summary token (BERT-style) aggregating the entire sequence into a classification vector.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~80,000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114800"/>
            <a:ext cx="54406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4114800"/>
            <a:ext cx="544068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41148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(70/15/15)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4572000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</a:t>
            </a: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0.3806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</a:t>
            </a: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0.1221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0.6146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collapses: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Macro-F1 FROZEN at 0.2702 across all 25 epochs — model learns to predict majority class only. Attention needs massive data.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4114800"/>
            <a:ext cx="57150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89320" y="4114800"/>
            <a:ext cx="5715000" cy="411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26480" y="411480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/ CAVEATS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4572000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 (millions of samples), language, or tasks where cross-electrode attention maps are the interpretability goal.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here: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~9,500 training samples + 80k params → no inductive bias. Remedies: pre-training, conv front-end, stronger regularisation.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Algorithm 4 / 5 — </a:t>
            </a:r>
            <a:r>
              <a:rPr lang="en-US" sz="2600" b="1" dirty="0" err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</a:t>
            </a: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(Lawhern et al. 2018)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depthwise convolutions — only ~400 params, WINS mean Macro-F1 = 0.4964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eegnet_los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530352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143000"/>
            <a:ext cx="57607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143000"/>
            <a:ext cx="576072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143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WHY IT WINS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600200"/>
            <a:ext cx="54864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stack (three blocks):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B1: Conv2D temporal (1×64, 8 filters) → BN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B2: DepthwiseConv2D spatial (14×1, D=2) → BN → ELU → AvgPool → Dropout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B3: SeparableConv2D (1×16) → BN → ELU → AvgPool → Dropout → Dense(2)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convolution: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full Conv2D mixing channels, depthwise applies ONE filter per channel — learns spatial patterns electrode-by-electrode without blending.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 convolution: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+ 1×1 pointwise — reduces parameters 8–10× while preserving expressiveness.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~400 parameters → cannot overfit 9,500-sample training set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Temporal filter (1×64) mimics a learned band-pass per channel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Depthwise spatial filter learns optimal electrode weightings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Naturally calibrated threshold (0.65) — near optimal 0.5 midpoint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114800"/>
            <a:ext cx="54406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4114800"/>
            <a:ext cx="544068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41148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(70/15/15 + mean)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4572000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(test): </a:t>
            </a: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0.4977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(MEAN 3 splits): </a:t>
            </a: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0.4964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</a:t>
            </a: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0.7597 (highest)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0.6859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stable: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count is 500× smaller than LSTM → regularisation by design. Inductive bias matches EEG physics.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4114800"/>
            <a:ext cx="57150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89320" y="4114800"/>
            <a:ext cx="5715000" cy="411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26480" y="411480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/ CAVEATS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4572000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EEG classification task — drowsiness, BCI, motor imagery, sleep staging. Canonical for &lt;100k sample EEG datasets.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capacity limits ceiling on very large datasets; hand-crafted for EEG — not drop-in for other modalities.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Algorithm 5 / 5 — PatchTST Lite (Nie et al. 2023)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Patch-based Transformer — splits sequence into patches, enabling both local and global modelling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patchtst_los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530352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143000"/>
            <a:ext cx="57607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143000"/>
            <a:ext cx="5760720" cy="411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143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MATHEMATICS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600200"/>
            <a:ext cx="54864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stack: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(64 × 14) → Patchify (size=8, stride=4 → 15 patches) → Linear embed → + PE → [CLS] prepend → 2× TransformerEncoder → Dense(2)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operation: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patch is an 8-sample window (~62 ms). Linearly embedded into 32-dim token. Overlapping stride=4 gives redundant short-range views.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 (Nie 2023):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token = single time step, token = patch → attention complexity drops from O(64²) to O(15²). Enables long-context modelling.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~50,000 (lightweight variant)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114800"/>
            <a:ext cx="54406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4114800"/>
            <a:ext cx="544068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41148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(70/15/15)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4572000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</a:t>
            </a: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0.2820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0.2221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0.3728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(extreme)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property: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False Negatives — predicts 'closed' aggressively. Ideal where missing a closed-eye event is catastrophic.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4114800"/>
            <a:ext cx="57150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89320" y="4114800"/>
            <a:ext cx="5715000" cy="411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26480" y="411480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/ CAVEATS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4572000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BCI where FN must approach zero; also long time-series forecasting (its original purpose).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noisy (CV loss highly variable); many False Positives; patch size needs task-specific tuning.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97255-BCFC-059F-CBF5-16DA49C20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C4232FAC-CC70-629B-305F-5C97B7F0F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69" y="643467"/>
            <a:ext cx="4709661" cy="2543217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118CA1F5-90D8-4EB2-5A85-E286DCD78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316" y="980943"/>
            <a:ext cx="4732940" cy="1868265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B35E8E1C-82C2-D7F1-3D00-831BE7DA5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11" y="3671316"/>
            <a:ext cx="4649976" cy="254586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95D24C05-97E8-5352-D215-7F20F85A43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954" y="3671316"/>
            <a:ext cx="4621663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234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Comparison — Overall Ranking by Mean Macro-F1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across 3 chronological splits (60/20/20, 70/15/15, 80/10/10)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rops/final_compariso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731520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MACRO-F1 RANKING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55280" y="1490472"/>
            <a:ext cx="3840480" cy="301752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1000" y="1508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36676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0" y="1508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9848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0.4964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01000" y="18105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66760" y="1810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0" y="1810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0.4677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01000" y="21122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66760" y="2112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0" y="21122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698480" y="21122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0.4665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01000" y="24140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366760" y="24140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GradBoost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58400" y="24140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698480" y="24140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0.4589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001000" y="27157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366760" y="2715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EEGTrans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058400" y="2715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698480" y="2715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0.4522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01000" y="3017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36676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058400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69848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0.4437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001000" y="33192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36676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SVM-RBF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058400" y="3319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98480" y="3319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0.4313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01000" y="36210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366760" y="3621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0058400" y="3621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698480" y="3621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0.4291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001000" y="39227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366760" y="3922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0058400" y="3922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0698480" y="39227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0.4221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001000" y="4224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366760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058400" y="4224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698480" y="4224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0.4109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846320"/>
            <a:ext cx="112471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457200" y="4846320"/>
            <a:ext cx="11247120" cy="4114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94360" y="4846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94360" y="5303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 wins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a clear margin (0.4964 vs 0.4677 runner-up) with only 400 parameters — inductive bias beats brute force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best ML model at rank 3 — only 0.03 behind the best DL model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is LAST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despite being the heaviest — parameter count alone doesn't help on small, drifting datasets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Range of top 10 is narrow: 0.41 to 0.50. All models face the same concept-drift ceiling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Algorithm is Best — Decision Matrix by Use Case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not one-dimensional; different scenarios favour different models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5943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73152" cy="5943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accuracy/F1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2560320" cy="5943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1188720"/>
            <a:ext cx="4480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06640" y="11887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Macro-F1 = 0.4964; highest AUC = 0.76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4114800" cy="5943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73152" cy="594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1828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predictable production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0"/>
            <a:ext cx="2560320" cy="594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1828800"/>
            <a:ext cx="4480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0" y="18288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std across splits (0.013); fastest inference; calibrated probabilities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4114800" cy="5943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73152" cy="5943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24688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(minimise False Negatives)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468880"/>
            <a:ext cx="2560320" cy="5943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468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Lite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2468880"/>
            <a:ext cx="4480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06640" y="24688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≈ 0 across all splits — ideal for drowsy-driver detection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4114800" cy="5943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73152" cy="5943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1089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feature importance / interpretability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108960"/>
            <a:ext cx="2560320" cy="5943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3108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0" y="3108960"/>
            <a:ext cx="4480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06640" y="31089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feature ranking; identifies F7, F8, AF3 as key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4114800" cy="5943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3749040"/>
            <a:ext cx="73152" cy="594360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3749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Low-variance benchmark baseline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749040"/>
            <a:ext cx="2560320" cy="594360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37490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15200" y="3749040"/>
            <a:ext cx="4480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06640" y="37490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variance ML model (std MacroF1 = 0.038); robust to hyperparameter choices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389120"/>
            <a:ext cx="4114800" cy="5943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" y="4389120"/>
            <a:ext cx="73152" cy="5943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0080" y="43891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compute / embedded deployment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4389120"/>
            <a:ext cx="2560320" cy="5943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54880" y="4389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315200" y="4389120"/>
            <a:ext cx="4480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406640" y="43891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400 parameters; runs on microcontroller; best accuracy-per-param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5029200"/>
            <a:ext cx="4114800" cy="5943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57200" y="5029200"/>
            <a:ext cx="73152" cy="594360"/>
          </a:xfrm>
          <a:prstGeom prst="rect">
            <a:avLst/>
          </a:prstGeom>
          <a:solidFill>
            <a:srgbClr val="7B2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0080" y="5029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non-linear patterns dominate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63440" y="5029200"/>
            <a:ext cx="2560320" cy="594360"/>
          </a:xfrm>
          <a:prstGeom prst="rect">
            <a:avLst/>
          </a:prstGeom>
          <a:solidFill>
            <a:srgbClr val="7B2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54880" y="5029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SVM-RBF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315200" y="5029200"/>
            <a:ext cx="4480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406640" y="50292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stationary and classes non-linearly separable — 0.92 accuracy on 80/10/10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5669280"/>
            <a:ext cx="4114800" cy="594360"/>
          </a:xfrm>
          <a:prstGeom prst="rect">
            <a:avLst/>
          </a:prstGeom>
          <a:solidFill>
            <a:srgbClr val="E6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57200" y="5669280"/>
            <a:ext cx="73152" cy="594360"/>
          </a:xfrm>
          <a:prstGeom prst="rect">
            <a:avLst/>
          </a:prstGeom>
          <a:solidFill>
            <a:srgbClr val="5B8F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0080" y="56692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capacity for very large datasets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63440" y="5669280"/>
            <a:ext cx="2560320" cy="594360"/>
          </a:xfrm>
          <a:prstGeom prst="rect">
            <a:avLst/>
          </a:prstGeom>
          <a:solidFill>
            <a:srgbClr val="5B8F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754880" y="5669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Transformer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315200" y="5669280"/>
            <a:ext cx="4480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406640" y="56692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&gt;100k samples, recurrent + attention models scale better than EEGNet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Problems Identified in the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that bound performance and explain the accuracy paradox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567160" y="22860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41480" y="502920"/>
            <a:ext cx="13716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891939"/>
              </p:ext>
            </p:extLst>
          </p:nvPr>
        </p:nvGraphicFramePr>
        <p:xfrm>
          <a:off x="457200" y="1143000"/>
          <a:ext cx="11066462" cy="4754880"/>
        </p:xfrm>
        <a:graphic>
          <a:graphicData uri="http://schemas.openxmlformats.org/drawingml/2006/table">
            <a:tbl>
              <a:tblPr/>
              <a:tblGrid>
                <a:gridCol w="276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Concept Drift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= 49.8% closed; Q4 = 24.2%; last 15% = 8.1% 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44.9% distribution shift — accuracy metric misleading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(LSTM, CNN-LSTM)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 → 0.04; CV loss rises 0.84 → 2.86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MacroF1 plateaus ~0.60; test collapses to 0.42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 Thresholds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threshold: 0.53 → 0.95 across splits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decision boundary transfers reliably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Near-Chance Test 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 ML AUC in [0.20–0.40] on 70/15/15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invert ranking between CV and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Walk-Forward Fold Degeneracy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1 val = 100% closed; Fold 3 = 0.97%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 mean ± std inflated (std ≈ 0.19)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Single-Subject, 117-Second 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N=14,980 from one Emotiv session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do not generalise to other subjects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Binary-F1 on Closed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DL Binary-F1 = 0.21; most &lt; 0.15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Closed-eye events rarely predicted at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50976"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Eye State Classification · UniNa Federico II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5623560" y="3611880"/>
            <a:ext cx="91440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37947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7548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report: unina.cc/dmml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Manzo  ·  Francesco Ventimiglia  ·  Danilo Rodriguez  ·  Rohan Baidya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9588</Words>
  <Application>Microsoft Office PowerPoint</Application>
  <PresentationFormat>Widescreen</PresentationFormat>
  <Paragraphs>1318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 Eye State Classification Analysis</dc:title>
  <dc:subject>PptxGenJS Presentation</dc:subject>
  <dc:creator>Manzo, Ventimiglia, Rodriguez, Baidya</dc:creator>
  <cp:lastModifiedBy>ROHAN BAIDYA</cp:lastModifiedBy>
  <cp:revision>22</cp:revision>
  <dcterms:created xsi:type="dcterms:W3CDTF">2026-04-19T07:32:52Z</dcterms:created>
  <dcterms:modified xsi:type="dcterms:W3CDTF">2026-04-20T16:00:39Z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2026-04-20T10:20:35Z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f0a33296-70be-4752-94c9-5764e503e313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